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Azure Virtual Machine Scale Set</a:t>
            </a:r>
          </a:p>
          <a:p>
            <a:pPr>
              <a:defRPr sz="3000" b="1">
                <a:solidFill>
                  <a:srgbClr val="50BEDC"/>
                </a:solidFill>
              </a:defRPr>
            </a:pPr>
            <a:r>
              <a:t>with Autoscale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9718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r>
              <a:t>Automatic scaling based on CPU utilization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5212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4C3D2"/>
                </a:solidFill>
              </a:defRPr>
            </a:pPr>
            <a:r>
              <a:t>TEAM NUMBER — T105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549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/>
            </a:pPr>
            <a:r>
              <a:t>2400031861 — TEAM LEAD</a:t>
            </a:r>
          </a:p>
          <a:p>
            <a:pPr algn="l">
              <a:spcAft>
                <a:spcPts val="400"/>
              </a:spcAft>
              <a:defRPr sz="1800" b="0"/>
            </a:pPr>
            <a:r>
              <a:t>2400031849 — TEAM MEMBER</a:t>
            </a:r>
          </a:p>
          <a:p>
            <a:pPr algn="l">
              <a:spcAft>
                <a:spcPts val="400"/>
              </a:spcAft>
              <a:defRPr sz="1800" b="0"/>
            </a:pPr>
            <a:r>
              <a:t>2400031814 — TEAM MEMBER</a:t>
            </a:r>
          </a:p>
          <a:p>
            <a:pPr algn="l">
              <a:spcAft>
                <a:spcPts val="400"/>
              </a:spcAft>
              <a:defRPr sz="1800" b="0"/>
            </a:pPr>
            <a:r>
              <a:t>2400031810 — TEAM 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Why automatic scaling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417320"/>
          </a:xfrm>
          <a:prstGeom prst="rect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965F"/>
                </a:solidFill>
              </a:defRPr>
            </a:pPr>
            <a:r>
              <a:t>Low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Fewer resources are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417320"/>
          </a:xfrm>
          <a:prstGeom prst="rect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9632"/>
                </a:solidFill>
              </a:defRPr>
            </a:pPr>
            <a:r>
              <a:t>High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CPU and workload can increase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29184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73152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39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Manual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5856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Slow and difficult to 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Applications can experience changing workloads during normal use, peak hours, or special events.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Running a fixed number of virtual machines can waste resources during low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Too few instances during high demand can reduce application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VM Scale Sets with Autoscale provide an automatic way to adjust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2. VM and VM Scale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Simple concept before the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1325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Virtual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 computer running in Azure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29200" cy="132588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73152" cy="132588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BEDC"/>
                </a:solidFill>
              </a:defRPr>
            </a:pPr>
            <a:r>
              <a:t>VM Scale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1284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 group of similar VMs managed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246120"/>
            <a:ext cx="132588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9300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341"/>
                </a:solidFill>
              </a:defRPr>
            </a:pPr>
            <a:r>
              <a:t>VM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246120"/>
            <a:ext cx="132588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9300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341"/>
                </a:solidFill>
              </a:defRPr>
            </a:pPr>
            <a:r>
              <a:t>VM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246120"/>
            <a:ext cx="132588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9300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341"/>
                </a:solidFill>
              </a:defRPr>
            </a:pPr>
            <a:r>
              <a:t>VM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Instead of managing each VM separately, VMSS manages instances as one group.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Your project starts with 2 instances and allows Azure to scale between 2 and 5.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Ubuntu Server 24.04 LTS was used for the VMSS instances.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3. 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Monitoring and autoscaling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25880"/>
            <a:ext cx="3749039" cy="777240"/>
          </a:xfrm>
          <a:prstGeom prst="roundRect">
            <a:avLst/>
          </a:prstGeom>
          <a:solidFill>
            <a:srgbClr val="E8F2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9392" y="1435607"/>
            <a:ext cx="3602735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341"/>
                </a:solidFill>
              </a:defRPr>
            </a:pPr>
            <a:r>
              <a:t>Azure Resource Group</a:t>
            </a:r>
            <a:br/>
            <a:r>
              <a:t>VMSS-Autoscale-RG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423160"/>
            <a:ext cx="3749039" cy="777240"/>
          </a:xfrm>
          <a:prstGeom prst="roundRect">
            <a:avLst/>
          </a:prstGeom>
          <a:solidFill>
            <a:srgbClr val="E1F8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2532888"/>
            <a:ext cx="3602735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341"/>
                </a:solidFill>
              </a:defRPr>
            </a:pPr>
            <a:r>
              <a:t>VM Scale Set</a:t>
            </a:r>
            <a:br/>
            <a:r>
              <a:t>vmss-autoscale-demo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703320"/>
            <a:ext cx="2743200" cy="777240"/>
          </a:xfrm>
          <a:prstGeom prst="roundRect">
            <a:avLst/>
          </a:prstGeom>
          <a:solidFill>
            <a:srgbClr val="F4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3813048"/>
            <a:ext cx="2596896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341"/>
                </a:solidFill>
              </a:defRPr>
            </a:pPr>
            <a:r>
              <a:t>VM Instance 1</a:t>
            </a:r>
            <a:br/>
            <a:r>
              <a:t>Ubuntu 24.04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703320"/>
            <a:ext cx="2743200" cy="777240"/>
          </a:xfrm>
          <a:prstGeom prst="roundRect">
            <a:avLst/>
          </a:prstGeom>
          <a:solidFill>
            <a:srgbClr val="F4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3813048"/>
            <a:ext cx="2596896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341"/>
                </a:solidFill>
              </a:defRPr>
            </a:pPr>
            <a:r>
              <a:t>VM Instance 2</a:t>
            </a:r>
            <a:br/>
            <a:r>
              <a:t>Ubuntu 24.04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800600"/>
            <a:ext cx="3749039" cy="777240"/>
          </a:xfrm>
          <a:prstGeom prst="roundRect">
            <a:avLst/>
          </a:prstGeom>
          <a:solidFill>
            <a:srgbClr val="EEF8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4910328"/>
            <a:ext cx="3602735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341"/>
                </a:solidFill>
              </a:defRPr>
            </a:pPr>
            <a:r>
              <a:t>Azure Monitor</a:t>
            </a:r>
            <a:br/>
            <a:r>
              <a:t>Percentage 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806440"/>
            <a:ext cx="4846320" cy="640080"/>
          </a:xfrm>
          <a:prstGeom prst="roundRect">
            <a:avLst/>
          </a:prstGeom>
          <a:solidFill>
            <a:srgbClr val="FFF5E1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5916168"/>
            <a:ext cx="47000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2341"/>
                </a:solidFill>
              </a:defRPr>
            </a:pPr>
            <a:r>
              <a:t>Autoscale Rules</a:t>
            </a:r>
            <a:br/>
            <a:r>
              <a:t>&gt;70% → +1   |   &lt;30% → 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103120"/>
            <a:ext cx="0" cy="32004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00400" y="3200400"/>
            <a:ext cx="2286000" cy="50292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3200400"/>
            <a:ext cx="2286000" cy="50292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480560"/>
            <a:ext cx="0" cy="32004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5577840"/>
            <a:ext cx="0" cy="22860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4. Azure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Key values used in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60320" cy="123444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Minimum instances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123444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73152" cy="1234440"/>
          </a:xfrm>
          <a:prstGeom prst="rect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600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96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Maximum instances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123444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73152" cy="1234440"/>
          </a:xfrm>
          <a:prstGeom prst="rect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965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Default instances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286000" cy="123444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17320"/>
            <a:ext cx="73152" cy="123444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0020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BEDC"/>
                </a:solidFill>
              </a:defRPr>
            </a:pPr>
            <a: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671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Scale-out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6324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Scale out: Average Percentage CPU &gt; 70% → increase instance count by 1.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Scale in: Average Percentage CPU &lt; 30% → decrease instance count by 1.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Minimum = 2 ensures the VMSS does not scale below 2 instances.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Maximum = 5 prevents the VMSS from growing beyond 5 instances.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5. Azure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Percentage CPU is the metric used by Autoscale</a:t>
            </a:r>
          </a:p>
        </p:txBody>
      </p:sp>
      <p:pic>
        <p:nvPicPr>
          <p:cNvPr id="6" name="Picture 5" descr="c942c9a8-73fe-4df5-a84d-f8ffcaa214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05" y="1325880"/>
            <a:ext cx="989530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The graph shows CPU utilization over time. Azure Autoscale uses this metric to decide whether to add or remove instances.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6. How Autoscaling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The core logic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86000" cy="914400"/>
          </a:xfrm>
          <a:prstGeom prst="roundRect">
            <a:avLst/>
          </a:prstGeom>
          <a:solidFill>
            <a:srgbClr val="FFEE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CPU &gt;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E8F7E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93852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Scale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2860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3852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+1 Instance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828800"/>
            <a:ext cx="18288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1938528"/>
            <a:ext cx="16824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341"/>
                </a:solidFill>
              </a:defRPr>
            </a:pPr>
            <a:r>
              <a:t>Maximum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2286000" cy="914400"/>
          </a:xfrm>
          <a:prstGeom prst="roundRect">
            <a:avLst/>
          </a:prstGeom>
          <a:solidFill>
            <a:srgbClr val="E8F7E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3308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CPU &lt; 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023360"/>
            <a:ext cx="2286000" cy="914400"/>
          </a:xfrm>
          <a:prstGeom prst="roundRect">
            <a:avLst/>
          </a:prstGeom>
          <a:solidFill>
            <a:srgbClr val="FFF5E1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413308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Scale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60"/>
            <a:ext cx="228600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133088"/>
            <a:ext cx="21396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341"/>
                </a:solidFill>
              </a:defRPr>
            </a:pPr>
            <a:r>
              <a:t>-1 Instance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023360"/>
            <a:ext cx="18288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4133088"/>
            <a:ext cx="168249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341"/>
                </a:solidFill>
              </a:defRPr>
            </a:pPr>
            <a:r>
              <a:t>Minimum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0" y="228600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" y="228600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86800" y="228600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0400" y="448056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0" y="448056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0" y="4480560"/>
            <a:ext cx="457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058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Azure Monitor continuously observes the Percentage CPU metric.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Autoscale applies the configured thresholds and changes the number of instances automatically.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7. Testing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Verifying monitoring and autoscaling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Checked the VMSS instance count in Azure Portal.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Viewed the Percentage CPU metric under Monitoring → Metrics.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Configured the autoscale rules and verified the 2 / 5 / 2 instance limits.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Used a Linux CPU-load test approach to create higher CPU utilization.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Observed Azure Monitor for changes in CPU utilization and documented the results.</a:t>
            </a:r>
          </a:p>
        </p:txBody>
      </p:sp>
      <p:pic>
        <p:nvPicPr>
          <p:cNvPr id="7" name="Picture 6" descr="3cf17c6e-f700-4242-a2af-1ce64e9592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71038"/>
            <a:ext cx="4892040" cy="23672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489204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2341"/>
                </a:solidFill>
              </a:defRPr>
            </a:pPr>
            <a:r>
              <a:t>Evidence: Azure Monitor CPU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8.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3017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73152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2 →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585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Scale-out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3017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73152" cy="1371600"/>
          </a:xfrm>
          <a:prstGeom prst="rect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965F"/>
                </a:solidFill>
              </a:defRPr>
            </a:pPr>
            <a:r>
              <a:t>5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585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Scale-in capacity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017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1371600"/>
          </a:xfrm>
          <a:prstGeom prst="rect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916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9632"/>
                </a:solidFill>
              </a:defRPr>
            </a:pPr>
            <a:r>
              <a:t>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585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Metric-driven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The VMSS was configured with CPU-based autoscaling.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Azure Monitor provides the CPU metric used by the autoscale policy.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The project demonstrates automatic capacity management while respecting minimum and maximum limits.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Project documentation, screenshots, and commands were pushed to GitHub.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9. Benefits and Real-World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t>Why this architecture is useful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38328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More capacity when workload 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371600"/>
          </a:xfrm>
          <a:prstGeom prst="rect">
            <a:avLst/>
          </a:prstGeom>
          <a:solidFill>
            <a:srgbClr val="22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965F"/>
                </a:solidFill>
              </a:defRPr>
            </a:pPr>
            <a: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Fewer instances when workload falls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38328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73152" cy="137160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0020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BEDC"/>
                </a:solidFill>
              </a:defRPr>
            </a:pPr>
            <a: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671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Less manual VM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Example: an online shopping application can have more users during a sale.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High demand can increase CPU usage, triggering scale-out.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After the demand falls, scale-in can reduce unnecessary instances.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The same concept can be used for web applications, APIs, and other variable workloads.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Azure VMSS Autoscale  |  Project Presentation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BF5"/>
                </a:solidFill>
              </a:defRPr>
            </a:pPr>
            <a:r>
              <a:t>• Implemented an Azure VM Scale Set with CPU-based autoscaling.</a:t>
            </a:r>
          </a:p>
          <a:p>
            <a:pPr>
              <a:spcAft>
                <a:spcPts val="1000"/>
              </a:spcAft>
              <a:defRPr sz="2000">
                <a:solidFill>
                  <a:srgbClr val="E1EBF5"/>
                </a:solidFill>
              </a:defRPr>
            </a:pPr>
            <a:r>
              <a:t>• Configured 2 minimum, 5 maximum, and 2 default instances.</a:t>
            </a:r>
          </a:p>
          <a:p>
            <a:pPr>
              <a:spcAft>
                <a:spcPts val="1000"/>
              </a:spcAft>
              <a:defRPr sz="2000">
                <a:solidFill>
                  <a:srgbClr val="E1EBF5"/>
                </a:solidFill>
              </a:defRPr>
            </a:pPr>
            <a:r>
              <a:t>• Used Azure Monitor Percentage CPU as the scaling metric.</a:t>
            </a:r>
          </a:p>
          <a:p>
            <a:pPr>
              <a:spcAft>
                <a:spcPts val="1000"/>
              </a:spcAft>
              <a:defRPr sz="2000">
                <a:solidFill>
                  <a:srgbClr val="E1EBF5"/>
                </a:solidFill>
              </a:defRPr>
            </a:pPr>
            <a:r>
              <a:t>• Configured scale-out at &gt;70% CPU and scale-in at &lt;30% CPU.</a:t>
            </a:r>
          </a:p>
          <a:p>
            <a:pPr>
              <a:spcAft>
                <a:spcPts val="1000"/>
              </a:spcAft>
              <a:defRPr sz="2000">
                <a:solidFill>
                  <a:srgbClr val="E1EBF5"/>
                </a:solidFill>
              </a:defRPr>
            </a:pPr>
            <a:r>
              <a:t>• Documented the implementation and pushed the project to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0BEDC"/>
                </a:solidFill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